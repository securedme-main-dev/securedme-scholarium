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28d67f10fb4040" /><Relationship Type="http://schemas.openxmlformats.org/officeDocument/2006/relationships/extended-properties" Target="/docProps/app.xml" Id="R721a574238804ae8" /><Relationship Type="http://schemas.openxmlformats.org/officeDocument/2006/relationships/officeDocument" Target="/ppt/presentation.xml" Id="Rfe096da22f284f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4ee8811e6c4d04"/>
  </p:sldMasterIdLst>
  <p:notesMasterIdLst>
    <p:notesMasterId xmlns:r="http://schemas.openxmlformats.org/officeDocument/2006/relationships" r:id="R1d78c3d4576a4fb0"/>
  </p:notesMasterIdLst>
  <p:sldIdLst>
    <p:sldId xmlns:r="http://schemas.openxmlformats.org/officeDocument/2006/relationships" id="256" r:id="Rd0ff0ef472f94675"/>
    <p:sldId xmlns:r="http://schemas.openxmlformats.org/officeDocument/2006/relationships" id="257" r:id="Rbc1f5a35f6eb4648"/>
    <p:sldId xmlns:r="http://schemas.openxmlformats.org/officeDocument/2006/relationships" id="258" r:id="Rb3c5fecd51c44ab3"/>
    <p:sldId xmlns:r="http://schemas.openxmlformats.org/officeDocument/2006/relationships" id="259" r:id="R4ad9321b4ee344af"/>
    <p:sldId xmlns:r="http://schemas.openxmlformats.org/officeDocument/2006/relationships" id="260" r:id="Rdd158bdd22684253"/>
    <p:sldId xmlns:r="http://schemas.openxmlformats.org/officeDocument/2006/relationships" id="261" r:id="Rf85d708d86bd483d"/>
    <p:sldId xmlns:r="http://schemas.openxmlformats.org/officeDocument/2006/relationships" id="262" r:id="R07a33ab3ed2648f9"/>
    <p:sldId xmlns:r="http://schemas.openxmlformats.org/officeDocument/2006/relationships" id="263" r:id="R8edd69118e584236"/>
    <p:sldId xmlns:r="http://schemas.openxmlformats.org/officeDocument/2006/relationships" id="264" r:id="R6fdcb2d1c2864d99"/>
    <p:sldId xmlns:r="http://schemas.openxmlformats.org/officeDocument/2006/relationships" id="265" r:id="Rba856da29efb489e"/>
    <p:sldId xmlns:r="http://schemas.openxmlformats.org/officeDocument/2006/relationships" id="266" r:id="R09eaa71592014b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f1a40f1fcd45f0" /><Relationship Type="http://schemas.openxmlformats.org/officeDocument/2006/relationships/slideMaster" Target="/ppt/slideMasters/slideMaster1.xml" Id="R7c4ee8811e6c4d04" /><Relationship Type="http://schemas.openxmlformats.org/officeDocument/2006/relationships/notesMaster" Target="/ppt/notesMasters/notesMaster1.xml" Id="R1d78c3d4576a4fb0" /><Relationship Type="http://schemas.openxmlformats.org/officeDocument/2006/relationships/presProps" Target="/ppt/presProps.xml" Id="Re3ab82d686204011" /><Relationship Type="http://schemas.openxmlformats.org/officeDocument/2006/relationships/viewProps" Target="/ppt/viewProps.xml" Id="R16c725ac851842e8" /><Relationship Type="http://schemas.openxmlformats.org/officeDocument/2006/relationships/tableStyles" Target="/ppt/tableStyles.xml" Id="R7c9cb04723d54bc6" /><Relationship Type="http://schemas.openxmlformats.org/officeDocument/2006/relationships/slide" Target="/ppt/slides/slide1.xml" Id="Rd0ff0ef472f94675" /><Relationship Type="http://schemas.openxmlformats.org/officeDocument/2006/relationships/slide" Target="/ppt/slides/slide2.xml" Id="Rbc1f5a35f6eb4648" /><Relationship Type="http://schemas.openxmlformats.org/officeDocument/2006/relationships/slide" Target="/ppt/slides/slide3.xml" Id="Rb3c5fecd51c44ab3" /><Relationship Type="http://schemas.openxmlformats.org/officeDocument/2006/relationships/slide" Target="/ppt/slides/slide4.xml" Id="R4ad9321b4ee344af" /><Relationship Type="http://schemas.openxmlformats.org/officeDocument/2006/relationships/slide" Target="/ppt/slides/slide5.xml" Id="Rdd158bdd22684253" /><Relationship Type="http://schemas.openxmlformats.org/officeDocument/2006/relationships/slide" Target="/ppt/slides/slide6.xml" Id="Rf85d708d86bd483d" /><Relationship Type="http://schemas.openxmlformats.org/officeDocument/2006/relationships/slide" Target="/ppt/slides/slide7.xml" Id="R07a33ab3ed2648f9" /><Relationship Type="http://schemas.openxmlformats.org/officeDocument/2006/relationships/slide" Target="/ppt/slides/slide8.xml" Id="R8edd69118e584236" /><Relationship Type="http://schemas.openxmlformats.org/officeDocument/2006/relationships/slide" Target="/ppt/slides/slide9.xml" Id="R6fdcb2d1c2864d99" /><Relationship Type="http://schemas.openxmlformats.org/officeDocument/2006/relationships/slide" Target="/ppt/slides/slide10.xml" Id="Rba856da29efb489e" /><Relationship Type="http://schemas.openxmlformats.org/officeDocument/2006/relationships/slide" Target="/ppt/slides/slide11.xml" Id="R09eaa71592014b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93611c276244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6a0f7a08394f41" /><Relationship Type="http://schemas.openxmlformats.org/officeDocument/2006/relationships/notesMaster" Target="/ppt/notesMasters/notesMaster1.xml" Id="R908de1d90e7d4f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7285f08e9c4c36" /><Relationship Type="http://schemas.openxmlformats.org/officeDocument/2006/relationships/notesMaster" Target="/ppt/notesMasters/notesMaster1.xml" Id="R410f099b3ced47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d6a66bf8ad45c5" /><Relationship Type="http://schemas.openxmlformats.org/officeDocument/2006/relationships/notesMaster" Target="/ppt/notesMasters/notesMaster1.xml" Id="R0c1fde6dd3c749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1cf761b26d49b5" /><Relationship Type="http://schemas.openxmlformats.org/officeDocument/2006/relationships/notesMaster" Target="/ppt/notesMasters/notesMaster1.xml" Id="Rd291b16d64874e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4207bc81cf4546" /><Relationship Type="http://schemas.openxmlformats.org/officeDocument/2006/relationships/notesMaster" Target="/ppt/notesMasters/notesMaster1.xml" Id="Rd8a771dc10404b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41b383b7cc4780" /><Relationship Type="http://schemas.openxmlformats.org/officeDocument/2006/relationships/notesMaster" Target="/ppt/notesMasters/notesMaster1.xml" Id="R1a5406e0246e4c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b8cfb33b1f4c62" /><Relationship Type="http://schemas.openxmlformats.org/officeDocument/2006/relationships/notesMaster" Target="/ppt/notesMasters/notesMaster1.xml" Id="R38ce2ea0c49a42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d7a69089454edd" /><Relationship Type="http://schemas.openxmlformats.org/officeDocument/2006/relationships/notesMaster" Target="/ppt/notesMasters/notesMaster1.xml" Id="R1f938391534d47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00d4b35b764215" /><Relationship Type="http://schemas.openxmlformats.org/officeDocument/2006/relationships/notesMaster" Target="/ppt/notesMasters/notesMaster1.xml" Id="R2709aa48c4fd40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13014a3c9d4272" /><Relationship Type="http://schemas.openxmlformats.org/officeDocument/2006/relationships/notesMaster" Target="/ppt/notesMasters/notesMaster1.xml" Id="R806262d98ae841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fa003b2bf14453" /><Relationship Type="http://schemas.openxmlformats.org/officeDocument/2006/relationships/notesMaster" Target="/ppt/notesMasters/notesMaster1.xml" Id="Ra6cf78a1914248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901b6b72e4a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5a65eba4a42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c83b8e74245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882e50f444b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ec84328b04c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0398e84754d6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828e04f61446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fd7c75a1e4cb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c3ebfa5b141de" /><Relationship Type="http://schemas.openxmlformats.org/officeDocument/2006/relationships/image" Target="/ppt/media/image.png" Id="R118e26500668431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768429e154bcd" /><Relationship Type="http://schemas.openxmlformats.org/officeDocument/2006/relationships/image" Target="/ppt/media/image2.png" Id="Rc35b055e71414d3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118e26500668431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c35b055e71414d3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cd2fc9f6d6441c" /><Relationship Type="http://schemas.openxmlformats.org/officeDocument/2006/relationships/slideLayout" Target="/ppt/slideLayouts/slideLayout1.xml" Id="R71249431f1454261" /><Relationship Type="http://schemas.openxmlformats.org/officeDocument/2006/relationships/slideLayout" Target="/ppt/slideLayouts/slideLayout2.xml" Id="R52eaf4d0027a44f4" /><Relationship Type="http://schemas.openxmlformats.org/officeDocument/2006/relationships/slideLayout" Target="/ppt/slideLayouts/slideLayout3.xml" Id="Re396acb68bb84358" /><Relationship Type="http://schemas.openxmlformats.org/officeDocument/2006/relationships/slideLayout" Target="/ppt/slideLayouts/slideLayout4.xml" Id="R493ecaa08bf04423" /><Relationship Type="http://schemas.openxmlformats.org/officeDocument/2006/relationships/slideLayout" Target="/ppt/slideLayouts/slideLayout5.xml" Id="R3144f877a7314b80" /><Relationship Type="http://schemas.openxmlformats.org/officeDocument/2006/relationships/slideLayout" Target="/ppt/slideLayouts/slideLayout6.xml" Id="R9ae6f5d6150f4caf" /><Relationship Type="http://schemas.openxmlformats.org/officeDocument/2006/relationships/slideLayout" Target="/ppt/slideLayouts/slideLayout7.xml" Id="R50f3974caa6a491d" /><Relationship Type="http://schemas.openxmlformats.org/officeDocument/2006/relationships/slideLayout" Target="/ppt/slideLayouts/slideLayout8.xml" Id="Rf9b3b227a7a94b61" /><Relationship Type="http://schemas.openxmlformats.org/officeDocument/2006/relationships/slideLayout" Target="/ppt/slideLayouts/slideLayout9.xml" Id="Rb9e7064122e94aed" /><Relationship Type="http://schemas.openxmlformats.org/officeDocument/2006/relationships/slideLayout" Target="/ppt/slideLayouts/slideLayout10.xml" Id="Rcdbeae0d75ea432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249431f1454261"/>
    <p:sldLayoutId xmlns:r="http://schemas.openxmlformats.org/officeDocument/2006/relationships" id="2147483650" r:id="R52eaf4d0027a44f4"/>
    <p:sldLayoutId xmlns:r="http://schemas.openxmlformats.org/officeDocument/2006/relationships" id="2147483651" r:id="Re396acb68bb84358"/>
    <p:sldLayoutId xmlns:r="http://schemas.openxmlformats.org/officeDocument/2006/relationships" id="2147483652" r:id="R493ecaa08bf04423"/>
    <p:sldLayoutId xmlns:r="http://schemas.openxmlformats.org/officeDocument/2006/relationships" id="2147483653" r:id="R3144f877a7314b80"/>
    <p:sldLayoutId xmlns:r="http://schemas.openxmlformats.org/officeDocument/2006/relationships" id="2147483654" r:id="R9ae6f5d6150f4caf"/>
    <p:sldLayoutId xmlns:r="http://schemas.openxmlformats.org/officeDocument/2006/relationships" id="2147483655" r:id="R50f3974caa6a491d"/>
    <p:sldLayoutId xmlns:r="http://schemas.openxmlformats.org/officeDocument/2006/relationships" id="2147483656" r:id="Rf9b3b227a7a94b61"/>
    <p:sldLayoutId xmlns:r="http://schemas.openxmlformats.org/officeDocument/2006/relationships" id="2147483657" r:id="Rb9e7064122e94aed"/>
    <p:sldLayoutId xmlns:r="http://schemas.openxmlformats.org/officeDocument/2006/relationships" id="2147483658" r:id="Rcdbeae0d75ea4321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6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2b9c7b04f4599" /><Relationship Type="http://schemas.openxmlformats.org/officeDocument/2006/relationships/notesSlide" Target="/ppt/notesSlides/notesSlide1.xml" Id="Ra18522d4055a47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cd128f53564b55" /><Relationship Type="http://schemas.openxmlformats.org/officeDocument/2006/relationships/notesSlide" Target="/ppt/notesSlides/notesSlide2.xml" Id="Rf461f2a8eeef41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58bad7a4a44d20" /><Relationship Type="http://schemas.openxmlformats.org/officeDocument/2006/relationships/notesSlide" Target="/ppt/notesSlides/notesSlide3.xml" Id="Rb622fad4b66c41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b71febd24f4095" /><Relationship Type="http://schemas.openxmlformats.org/officeDocument/2006/relationships/notesSlide" Target="/ppt/notesSlides/notesSlide4.xml" Id="Rb578532f121241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1320e630be4568" /><Relationship Type="http://schemas.openxmlformats.org/officeDocument/2006/relationships/notesSlide" Target="/ppt/notesSlides/notesSlide5.xml" Id="R3bc7432d51224e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1555799b5413d" /><Relationship Type="http://schemas.openxmlformats.org/officeDocument/2006/relationships/chart" Target="/ppt/slides/charts/chart1.xml" Id="R3045c51a8abf47e6" /><Relationship Type="http://schemas.openxmlformats.org/officeDocument/2006/relationships/notesSlide" Target="/ppt/notesSlides/notesSlide6.xml" Id="Rfbc6833aa8454b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3bc13c9acb444d" /><Relationship Type="http://schemas.openxmlformats.org/officeDocument/2006/relationships/notesSlide" Target="/ppt/notesSlides/notesSlide7.xml" Id="Rbdf4b2048c214a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77c15f177aa4590" /><Relationship Type="http://schemas.openxmlformats.org/officeDocument/2006/relationships/notesSlide" Target="/ppt/notesSlides/notesSlide8.xml" Id="R40a0d9d324914f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0d2da80ae478a" /><Relationship Type="http://schemas.openxmlformats.org/officeDocument/2006/relationships/notesSlide" Target="/ppt/notesSlides/notesSlide9.xml" Id="R57e5adcfbaa44c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f045f0612de4fa6" /><Relationship Type="http://schemas.openxmlformats.org/officeDocument/2006/relationships/notesSlide" Target="/ppt/notesSlides/notesSlide10.xml" Id="R24a5ed1f40ca49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1a241458643e5" /><Relationship Type="http://schemas.openxmlformats.org/officeDocument/2006/relationships/notesSlide" Target="/ppt/notesSlides/notesSlide11.xml" Id="R0d378be0c7934401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Verified count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337</c:v>
                </c:pt>
                <c:pt idx="1">
                  <c:v>41</c:v>
                </c:pt>
                <c:pt idx="2">
                  <c:v>12</c:v>
                </c:pt>
                <c:pt idx="3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Unresolved</c:v>
                </c:pt>
              </c:strCache>
            </c:strRef>
          </c:tx>
          <c:spPr>
            <a:solidFill xmlns:a="http://schemas.openxmlformats.org/drawingml/2006/main">
              <a:schemeClr val="tx2">
                <a:lumMod val="50000"/>
                <a:lumOff val="50000"/>
              </a:schemeClr>
            </a:solidFill>
            <a:ln xmlns:a="http://schemas.openxmlformats.org/drawingml/2006/main">
              <a:solidFill>
                <a:schemeClr val="tx2">
                  <a:lumMod val="50000"/>
                  <a:lumOff val="50000"/>
                </a:schemeClr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3176846567900986"/>
          <c:h val="0.05005992543055356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Scholarium + Teach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Operating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Evidence cut: 15 July 2026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Pre-alpha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Prepared by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SecuredMe Education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G12 review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Scholarium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E60E8A7A-C33D-43B9-9258-34A922A8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965513"/>
            <a:ext cx="9448800" cy="106648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800"/>
              <a:t>Scholarium + Teach operating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Agenda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mlns:a="http://schemas.openxmlformats.org/drawingml/2006/main" x="393698" y="2667171"/>
          <a:ext xmlns:a="http://schemas.openxmlformats.org/drawingml/2006/main" cx="7835901" cy="328165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2"/>
                <a:gridCol w="7213599"/>
              </a:tblGrid>
              <a:tr h="5469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 and scope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engineering evidence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 and privacy boundaries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 risks and mitigations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quality and delivery gates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1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Decision required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9ED408-E4DF-E76D-2726-E1F5A04410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E2598689-54C9-18A7-3A19-ED76AA08988F}" type="slidenum">
              <a:rPr sz="11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27794954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Product surface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Teach, Portfolio, Sources, Administration, and role-specific guidance now share one system story.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Direct proof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The browser shows zero console errors and no horizontal overflow on the validated landing and application paths.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Documentation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Five diagram packages and three role guides are delivered with editable sources and accessible exports.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G12 is closing on evidence; production and real learner data remain outside the claim.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202359C0-8A7A-196E-DD58-8E6569619F09}" type="slidenum">
              <a:rPr sz="11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fld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 u="none" cap="none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HIGHLIGHTS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boundary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 remains synthetic-data-only until the EFVP and legal review are closed.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Runtime boundary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Private engines stay behind Gate5 and outside the Cloudflare web bundle.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Readiness boundary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40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review proves pre-alpha execution, not production, legal, clinical, disciplinary, or autonomous authority readiness.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 u="none" cap="none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BOUNDARIES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Four operating gates define current readiness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G11 - Integrity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Pluginpack and FNP-QNN evidence closed; Gate5 remains the only invocation path.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G12 - Product story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Frontend, diagrams, guides, Team Alignment, and this review close together.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G13 - Quality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Full contracts, privacy, accessibility, failure, load, and visual proof remain next.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G14 - Operations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Tunnel, observability, recovery, deployment, GitHub, and final audit remain gated.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A capability is complete only when its contract, lifecycle, direct test, and authority boundary are evidenced.</a:t>
            </a:r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Verified evidence register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Each row states the tested surface and its scope. Counts are not combined into a readiness percentage.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Capability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Evidence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Result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Scope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Status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Pluginpack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Tests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337 passed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Proven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Manifest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Integrity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41 / 41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Proven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Doctor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Checks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 / 12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Proven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FNP-QNN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Bridge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29 passed, 1 skipped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Adapter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Proven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Teach diagrams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Packages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Docs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Delivered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Role guides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DOCX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Docs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Delivered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 D1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Migration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34 / 75 tables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Dev only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Applied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Browser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Console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 errors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Proven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052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Engineering evidence is explicit, not blended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Browser console errors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on validated paths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75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Local D1 tables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after 34 migrations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Validated counts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bars represent four independent engineering surfaces. A larger count is not a quality score; each result keeps its own scope and proof source.</a:t>
            </a:r>
          </a:p>
        </p:txBody>
      </p:sp>
      <p:graphicFrame>
        <p:nvGraphicFramePr>
          <p:cNvPr id="51" name="Chart 2"/>
          <p:cNvGraphicFramePr/>
          <p:nvPr/>
        </p:nvGraphicFramePr>
        <p:xfrm>
          <a:off xmlns:a="http://schemas.openxmlformats.org/drawingml/2006/main" x="634472" y="1322449"/>
          <a:ext xmlns:a="http://schemas.openxmlformats.org/drawingml/2006/main" cx="5029728" cy="478459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45c51a8abf47e6"/>
          </a:graphicData>
        </a:graphic>
      </p:graphicFrame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26A191F-219A-DB9E-DC19-FDD1658D91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boundaries are measurable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4782848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Real learner records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used in validation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Authorized private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gateway path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Traceable diagram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packages delivered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Role guides with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validated pagination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These are explicit state indicators, not a composite person, product, or compliance score.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green engineering result cannot override an open privacy or authority gate.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G12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Role guides: student, teacher, administrator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Executive decks: alignment and operating review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279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G12 delivery counts are concrete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Product and documentation artifacts now describe the same Teach domain. Counts below are deliverables, not adoption metrics.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285ADF-608D-E057-1D6B-3F7AD81076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DAACD4F-B550-386A-338E-96511960A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Open risks remain visible and assigned to gates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5025A11-4CFC-3DAD-DA4D-167D090F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1054100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99A2D71-41FF-1674-15C6-8AF76E98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1317497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Privacy approval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B4B76E-7D44-10FB-7578-2D01A397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2195285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EFVP and legal review are not closed.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Owner: Privacy / legal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Gate: before real learner data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Control: synthetic data only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7F86C9D-8471-77AD-E279-155712DF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797299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38D10E-43F8-FA5D-F1B1-10ADB58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060696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Quality breadth</a:t>
            </a:r>
          </a:p>
        </p:txBody>
      </p:sp>
      <p:sp>
        <p:nvSpPr>
          <p:cNvPr id="1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01AFD65-CE2B-0AE8-8D43-B2EC3F63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938484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Full G13 suites are not yet closed.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Owner: Engineering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Gate: actions 145-156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Control: no completion claim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4B2D712-3C15-6BFD-7D59-4BB690DD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970" y="1054100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4763959-3346-CF48-2A6A-6F12BE7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1317497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Environment debt</a:t>
            </a:r>
          </a:p>
        </p:txBody>
      </p:sp>
      <p:sp>
        <p:nvSpPr>
          <p:cNvPr id="21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21A4634-A669-4972-C24C-516C5F0F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2195285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Central Pillow install is inconsistent while media is active.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Owner: Runtime ops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Gate: worker maintenance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Control: isolated QA runtime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895B4A3-EE6A-858D-AEC7-4EE0313E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970" y="3797299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5F9C50-3A40-C713-DB6E-42BF96FF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4060696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Deployment boundary</a:t>
            </a:r>
          </a:p>
        </p:txBody>
      </p:sp>
      <p:sp>
        <p:nvSpPr>
          <p:cNvPr id="2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19F2123-F7EB-E995-0D2D-C04283EB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4938484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cPanel and Cloudflare delivery are not prepared.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Owner: Platform ops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Gate: actions 157-163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Control: localhost only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4375833-EB2B-2A86-E6AA-2B70E50646D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6915195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Close G12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Finalize the corporate dossier, full validation, evidence register, and action matrix.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sequence closes proof before exposure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Execute G13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Run contract, consent, accessibility, browser, failure, load, secrets, and build gates.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Prepare G14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Secure tunnel, technical metrics, recovery, deployment paths, Git flow, and final audit.</a:t>
            </a:r>
          </a:p>
        </p:txBody>
      </p:sp>
      <p:cxnSp>
        <p:nvCxnSpPr>
          <p:cNvPr id="28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Then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>Decision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Proceed to G13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Keep real learner data blocked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Scholarium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2026-07-15T23:33:33.5070000Z</dcterms:created>
  <dcterms:modified xsi:type="dcterms:W3CDTF">2026-07-15T23:33:33.5080000Z</dcterms:modified>
</coreProperties>
</file>